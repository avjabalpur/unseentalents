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Georgia" panose="02040502050405020303"/>
              </a:rPr>
              <a:t>Secret Whiz</a:t>
            </a:r>
            <a:endParaRPr sz="6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D8C2FF"/>
                </a:solidFill>
                <a:latin typeface="Georgia" panose="02040502050405020303"/>
              </a:rPr>
              <a:t>Where Talent Competes, and the Crowd Decides</a:t>
            </a:r>
            <a:endParaRPr sz="2200" b="0" i="1">
              <a:solidFill>
                <a:srgbClr val="D8C2FF"/>
              </a:solidFill>
              <a:latin typeface="Georgia" panose="0204050205040502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56235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 panose="020F0502020204030204"/>
              </a:rPr>
              <a:t>Client Presentation — Platform Overview</a:t>
            </a:r>
            <a:endParaRPr sz="15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9AE8"/>
                </a:solidFill>
                <a:latin typeface="Calibri" panose="020F0502020204030204"/>
              </a:rPr>
              <a:t>August 2026</a:t>
            </a:r>
            <a:endParaRPr sz="1300" b="0" i="0">
              <a:solidFill>
                <a:srgbClr val="B89AE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THE OPPORTUNITY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Talent competitions deserve a real digital stage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Reality-TV-style talent contests (singing, dancing, acting, photography, painting) draw huge audience engagement — but running one today means stitching together social media, spreadsheets, and manual vote counting.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There is no turnkey platform purpose-built for multi-round, elimination-style public voting at scale.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Secret Whiz fills that gap: configurable competitions, fair and abuse-resistant voting, and a clear path from “entrant” to “winner.”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02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THE PRODUCT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One simple loop, endless competition formats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35227" y="2743200"/>
            <a:ext cx="2103120" cy="118872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 panose="02040502050405020303"/>
              </a:rPr>
              <a:t>Upload</a:t>
            </a:r>
            <a:endParaRPr sz="2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284067" y="3154680"/>
            <a:ext cx="411480" cy="365760"/>
          </a:xfrm>
          <a:prstGeom prst="rightArrow">
            <a:avLst/>
          </a:prstGeom>
          <a:solidFill>
            <a:srgbClr val="5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1267" y="2743200"/>
            <a:ext cx="2103120" cy="1188720"/>
          </a:xfrm>
          <a:prstGeom prst="rect">
            <a:avLst/>
          </a:prstGeom>
          <a:solidFill>
            <a:srgbClr val="2A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 panose="02040502050405020303"/>
              </a:rPr>
              <a:t>Vote</a:t>
            </a:r>
            <a:endParaRPr sz="2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890107" y="3154680"/>
            <a:ext cx="411480" cy="365760"/>
          </a:xfrm>
          <a:prstGeom prst="rightArrow">
            <a:avLst/>
          </a:prstGeom>
          <a:solidFill>
            <a:srgbClr val="5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7307" y="2743200"/>
            <a:ext cx="2103120" cy="118872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 panose="02040502050405020303"/>
              </a:rPr>
              <a:t>Advance</a:t>
            </a:r>
            <a:endParaRPr sz="2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8496147" y="3154680"/>
            <a:ext cx="411480" cy="365760"/>
          </a:xfrm>
          <a:prstGeom prst="rightArrow">
            <a:avLst/>
          </a:prstGeom>
          <a:solidFill>
            <a:srgbClr val="5A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953347" y="2743200"/>
            <a:ext cx="2103120" cy="1188720"/>
          </a:xfrm>
          <a:prstGeom prst="rect">
            <a:avLst/>
          </a:prstGeom>
          <a:solidFill>
            <a:srgbClr val="2A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 panose="02040502050405020303"/>
              </a:rPr>
              <a:t>Win</a:t>
            </a:r>
            <a:endParaRPr sz="2000" b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443484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5A5A66"/>
                </a:solidFill>
                <a:latin typeface="Georgia" panose="02040502050405020303"/>
              </a:rPr>
              <a:t>One platform, any competition type — singing, dancing, acting, photography, painting, and more — configured without touching code.</a:t>
            </a:r>
            <a:endParaRPr sz="1800" b="0" i="1">
              <a:solidFill>
                <a:srgbClr val="5A5A66"/>
              </a:solidFill>
              <a:latin typeface="Georgia" panose="020405020504050203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03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HOW A COMPETITION IS STRUCTURED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Every event is a configurable elimination pipeline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op_round-1-backst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91" y="2286000"/>
            <a:ext cx="1170432" cy="1170432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56499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283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Backstage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8" name="Picture 7" descr="crop_round-2-main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51" y="2286000"/>
            <a:ext cx="1170432" cy="1170432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284515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299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Mainstage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11" name="Picture 10" descr="crop_round-3-top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311" y="2286000"/>
            <a:ext cx="1170432" cy="1170432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412531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315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60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14" name="Picture 13" descr="crop_round-4-top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471" y="2286000"/>
            <a:ext cx="1170432" cy="1170432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>
            <a:off x="540547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331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50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17" name="Picture 16" descr="crop_round-5-top4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631" y="2286000"/>
            <a:ext cx="1170432" cy="1170432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668563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347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40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20" name="Picture 19" descr="crop_round-6-top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0791" y="2286000"/>
            <a:ext cx="1170432" cy="1170432"/>
          </a:xfrm>
          <a:prstGeom prst="rect">
            <a:avLst/>
          </a:prstGeom>
        </p:spPr>
      </p:pic>
      <p:sp>
        <p:nvSpPr>
          <p:cNvPr id="21" name="Right Arrow 20"/>
          <p:cNvSpPr/>
          <p:nvPr/>
        </p:nvSpPr>
        <p:spPr>
          <a:xfrm>
            <a:off x="796579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363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30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23" name="Picture 22" descr="crop_round-2-main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951" y="2286000"/>
            <a:ext cx="1170432" cy="1170432"/>
          </a:xfrm>
          <a:prstGeom prst="rect">
            <a:avLst/>
          </a:prstGeom>
        </p:spPr>
      </p:pic>
      <p:sp>
        <p:nvSpPr>
          <p:cNvPr id="24" name="Right Arrow 23"/>
          <p:cNvSpPr/>
          <p:nvPr/>
        </p:nvSpPr>
        <p:spPr>
          <a:xfrm>
            <a:off x="924595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379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15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26" name="Picture 25" descr="crop_round-8-top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1111" y="2286000"/>
            <a:ext cx="1170432" cy="1170432"/>
          </a:xfrm>
          <a:prstGeom prst="rect">
            <a:avLst/>
          </a:prstGeom>
        </p:spPr>
      </p:pic>
      <p:sp>
        <p:nvSpPr>
          <p:cNvPr id="27" name="Right Arrow 26"/>
          <p:cNvSpPr/>
          <p:nvPr/>
        </p:nvSpPr>
        <p:spPr>
          <a:xfrm>
            <a:off x="10526115" y="2743200"/>
            <a:ext cx="100584" cy="256032"/>
          </a:xfrm>
          <a:prstGeom prst="rightArrow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395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Top 5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pic>
        <p:nvPicPr>
          <p:cNvPr id="29" name="Picture 28" descr="crop_round-9-winn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1271" y="2286000"/>
            <a:ext cx="1170432" cy="11704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94111" y="3529584"/>
            <a:ext cx="14447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 panose="020F0502020204030204"/>
              </a:rPr>
              <a:t>Winner</a:t>
            </a:r>
            <a:endParaRPr sz="1050" b="1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2960" y="4297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5A5A66"/>
                </a:solidFill>
                <a:latin typeface="Georgia" panose="02040502050405020303"/>
              </a:rPr>
              <a:t>Stage count, names, and time windows are fully configurable per event — this 9-round example is just one format among many.</a:t>
            </a:r>
            <a:endParaRPr sz="1600" b="0" i="1">
              <a:solidFill>
                <a:srgbClr val="5A5A66"/>
              </a:solidFill>
              <a:latin typeface="Georgia" panose="020405020504050203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04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THE USER JOURNEY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From sign-up to spotlight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19933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Register and receive a free welcome credit balance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26791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Browse live competitions by category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20" y="33649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Upload one submission per event (video or image)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17320" y="40507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Share it and canvass votes from the community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17320" y="47365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Advance each stage — by audience vote, judge score, or organizer review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31520" y="5394960"/>
            <a:ext cx="457200" cy="457200"/>
          </a:xfrm>
          <a:prstGeom prst="ellipse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 panose="020F0502020204030204"/>
              </a:rPr>
              <a:t>6</a:t>
            </a:r>
            <a:endParaRPr sz="16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5422392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A1A1A"/>
                </a:solidFill>
                <a:latin typeface="Calibri" panose="020F0502020204030204"/>
              </a:rPr>
              <a:t>Reach the final stage and be crowned a winner</a:t>
            </a:r>
            <a:endParaRPr sz="170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05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MONETIZATION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A transparent, ledger-based credit economy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Every user starts with a free welcome credit balance — zero barrier to first participation.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Uploads consume one credit; once spent, users top up via coupon codes or admin grants today, with direct purchase coming next.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Every balance change is recorded as an immutable ledger entry — fully auditable, never a bare balance edit.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Architected to add real-money credit purchases (Razorpay) without any redesign.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06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NEW — FLEXIBLE WINNING MODES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Not every competition should be decided by popularity alone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6607" y="2103120"/>
            <a:ext cx="3291840" cy="2651760"/>
          </a:xfrm>
          <a:prstGeom prst="rect">
            <a:avLst/>
          </a:prstGeom>
          <a:solidFill>
            <a:srgbClr val="FAF8FF"/>
          </a:solidFill>
          <a:ln w="12700">
            <a:solidFill>
              <a:srgbClr val="7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607" y="2103120"/>
            <a:ext cx="3291840" cy="109728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5207" y="24688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0066"/>
                </a:solidFill>
                <a:latin typeface="Georgia" panose="02040502050405020303"/>
              </a:rPr>
              <a:t>Audience Vote</a:t>
            </a:r>
            <a:endParaRPr sz="1900" b="1" i="0">
              <a:solidFill>
                <a:srgbClr val="2A0066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5207" y="306324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A1A"/>
                </a:solidFill>
                <a:latin typeface="Calibri" panose="020F0502020204030204"/>
              </a:rPr>
              <a:t>The crowd decides — highest public vote count advances and wins.</a:t>
            </a:r>
            <a:endParaRPr sz="145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49927" y="2103120"/>
            <a:ext cx="3291840" cy="2651760"/>
          </a:xfrm>
          <a:prstGeom prst="rect">
            <a:avLst/>
          </a:prstGeom>
          <a:solidFill>
            <a:srgbClr val="FAF8FF"/>
          </a:solidFill>
          <a:ln w="12700">
            <a:solidFill>
              <a:srgbClr val="7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9927" y="2103120"/>
            <a:ext cx="3291840" cy="109728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24688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0066"/>
                </a:solidFill>
                <a:latin typeface="Georgia" panose="02040502050405020303"/>
              </a:rPr>
              <a:t>Judge Score</a:t>
            </a:r>
            <a:endParaRPr sz="1900" b="1" i="0">
              <a:solidFill>
                <a:srgbClr val="2A0066"/>
              </a:solidFill>
              <a:latin typeface="Georgia" panose="0204050205040502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8527" y="306324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A1A"/>
                </a:solidFill>
                <a:latin typeface="Calibri" panose="020F0502020204030204"/>
              </a:rPr>
              <a:t>A panel of assigned judges scores each entry 1–10 — highest total wins.</a:t>
            </a:r>
            <a:endParaRPr sz="145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53247" y="2103120"/>
            <a:ext cx="3291840" cy="2651760"/>
          </a:xfrm>
          <a:prstGeom prst="rect">
            <a:avLst/>
          </a:prstGeom>
          <a:solidFill>
            <a:srgbClr val="FAF8FF"/>
          </a:solidFill>
          <a:ln w="12700">
            <a:solidFill>
              <a:srgbClr val="70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53247" y="2103120"/>
            <a:ext cx="3291840" cy="109728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1847" y="246888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0066"/>
                </a:solidFill>
                <a:latin typeface="Georgia" panose="02040502050405020303"/>
              </a:rPr>
              <a:t>Admin Curated</a:t>
            </a:r>
            <a:endParaRPr sz="1900" b="1" i="0">
              <a:solidFill>
                <a:srgbClr val="2A0066"/>
              </a:solidFill>
              <a:latin typeface="Georgia" panose="0204050205040502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1847" y="306324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1A1A"/>
                </a:solidFill>
                <a:latin typeface="Calibri" panose="020F0502020204030204"/>
              </a:rPr>
              <a:t>Organizers manually curate who advances, using votes as a guide.</a:t>
            </a:r>
            <a:endParaRPr sz="1450" b="0" i="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5A5A66"/>
                </a:solidFill>
                <a:latin typeface="Georgia" panose="02040502050405020303"/>
              </a:rPr>
              <a:t>Selected per event at creation — the same platform powers a pure popularity contest or a judged, TV-style competition.</a:t>
            </a:r>
            <a:endParaRPr sz="1500" b="0" i="1">
              <a:solidFill>
                <a:srgbClr val="5A5A66"/>
              </a:solidFill>
              <a:latin typeface="Georgia" panose="0204050205040502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07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NEW — JUDGING &amp; ORGANIZERS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Built for real production teams, not just admins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029200" cy="7315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Georgia" panose="02040502050405020303"/>
              </a:rPr>
              <a:t>Judging</a:t>
            </a:r>
            <a:endParaRPr sz="20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Admins assign up to 5 judges per event.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Judges score every approved entry 1–10 with comments from their own “My Judging” dashboard.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Publishing a judged event is blocked until enough judges are assigned — no event goes live without a scoring panel in place.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029200" cy="73152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A1A1A"/>
                </a:solidFill>
                <a:latin typeface="Georgia" panose="02040502050405020303"/>
              </a:rPr>
              <a:t>Organizers</a:t>
            </a:r>
            <a:endParaRPr sz="20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27889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A public organizer directory lists every organizer with their profile and social links.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Each organizer gets their own public page showcasing every event they have published.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5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550">
                <a:solidFill>
                  <a:srgbClr val="1A1A1A"/>
                </a:solidFill>
                <a:latin typeface="Calibri" panose="020F0502020204030204"/>
              </a:rPr>
              <a:t>Gives event creators a lasting public brand presence on the platform, not just a one-off event page.</a:t>
            </a:r>
            <a:endParaRPr sz="155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08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NEW — WINNERS HALL OF FAME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Every winner, permanently celebrated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A public showcase page lists every crowned winner across every event, with their winning entry, final vote count, and judge-score breakdown.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Turns each competition's conclusion into lasting, shareable content instead of a one-time announcement.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Reinforces trust in the results — the full winning record stays visible to everyone, permanently.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09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TRUST &amp; OPERATIONS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Every submission is reviewed, every role is scoped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All submissions are moderated (approved or rejected) before they become visible for public voting.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Users can report or flag inappropriate content or behavior.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Four scoped roles — Admin, Moderator, Organizer, User — each with exactly the access they need, nothing more.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A full admin console manages events, users, coupons, and site content from a single place.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10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000FF"/>
                </a:solidFill>
                <a:latin typeface="Calibri" panose="020F0502020204030204"/>
              </a:rPr>
              <a:t>UNDER THE HOOD</a:t>
            </a:r>
            <a:endParaRPr sz="1300" b="1" i="0">
              <a:solidFill>
                <a:srgbClr val="7000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Georgia" panose="02040502050405020303"/>
              </a:rPr>
              <a:t>Built to survive a vote-deadline traffic spike</a:t>
            </a:r>
            <a:endParaRPr sz="2800" b="1" i="0">
              <a:solidFill>
                <a:srgbClr val="1A1A1A"/>
              </a:solidFill>
              <a:latin typeface="Georgia" panose="020405020504050203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0" cy="38100"/>
          </a:xfrm>
          <a:prstGeom prst="rect">
            <a:avLst/>
          </a:prstGeom>
          <a:solidFill>
            <a:srgbClr val="70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Next.js + FastAPI: a fast, SEO-friendly front end backed by an async-native API.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PostgreSQL for data integrity, Redis to absorb vote-burst traffic and power live leaderboards.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Rate limiting and horizontal scalability designed in from day one, not bolted on later.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2200"/>
              </a:spcAft>
            </a:pPr>
            <a:r>
              <a:rPr sz="18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800">
                <a:solidFill>
                  <a:srgbClr val="1A1A1A"/>
                </a:solidFill>
                <a:latin typeface="Calibri" panose="020F0502020204030204"/>
              </a:rPr>
              <a:t>A fully free/open-source stack today, with a clear path to managed infrastructure as traffic grows.</a:t>
            </a:r>
            <a:endParaRPr sz="1800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11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00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8C2FF"/>
                </a:solidFill>
                <a:latin typeface="Calibri" panose="020F0502020204030204"/>
              </a:rPr>
              <a:t>WHAT'S NEXT</a:t>
            </a:r>
            <a:endParaRPr sz="1300" b="1" i="0">
              <a:solidFill>
                <a:srgbClr val="D8C2F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795528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 panose="02040502050405020303"/>
              </a:rPr>
              <a:t>Roadmap</a:t>
            </a:r>
            <a:endParaRPr sz="3000" b="1" i="0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FFFFFF"/>
                </a:solidFill>
                <a:latin typeface="Calibri" panose="020F0502020204030204"/>
              </a:rPr>
              <a:t>Automatic top-N stage advancement, beyond manual curation</a:t>
            </a:r>
            <a:endParaRPr sz="1700">
              <a:solidFill>
                <a:srgbClr val="FFFFF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FFFFFF"/>
                </a:solidFill>
                <a:latin typeface="Calibri" panose="020F0502020204030204"/>
              </a:rPr>
              <a:t>Live Razorpay payments for direct credit purchases</a:t>
            </a:r>
            <a:endParaRPr sz="1700">
              <a:solidFill>
                <a:srgbClr val="FFFFF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FFFFFF"/>
                </a:solidFill>
                <a:latin typeface="Calibri" panose="020F0502020204030204"/>
              </a:rPr>
              <a:t>AI-assisted moderation and vote-fraud detection</a:t>
            </a:r>
            <a:endParaRPr sz="1700">
              <a:solidFill>
                <a:srgbClr val="FFFFFF"/>
              </a:solidFill>
              <a:latin typeface="Calibri" panose="020F0502020204030204"/>
            </a:endParaRP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700" b="1">
                <a:solidFill>
                  <a:srgbClr val="7000FF"/>
                </a:solidFill>
                <a:latin typeface="Calibri" panose="020F0502020204030204"/>
              </a:rPr>
              <a:t>▸  </a:t>
            </a:r>
            <a:r>
              <a:rPr sz="1700">
                <a:solidFill>
                  <a:srgbClr val="FFFFFF"/>
                </a:solidFill>
                <a:latin typeface="Calibri" panose="020F0502020204030204"/>
              </a:rPr>
              <a:t>Real-time leaderboards via WebSockets</a:t>
            </a:r>
            <a:endParaRPr sz="170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297680"/>
            <a:ext cx="12191695" cy="25400"/>
          </a:xfrm>
          <a:prstGeom prst="rect">
            <a:avLst/>
          </a:prstGeom>
          <a:solidFill>
            <a:srgbClr val="552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486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FFFFFF"/>
                </a:solidFill>
                <a:latin typeface="Georgia" panose="02040502050405020303"/>
              </a:rPr>
              <a:t>Thank you — let's build the stage for the next generation of talent.</a:t>
            </a:r>
            <a:endParaRPr sz="2000" b="0" i="1">
              <a:solidFill>
                <a:srgbClr val="FFFFFF"/>
              </a:solidFill>
              <a:latin typeface="Georgia" panose="0204050205040502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5A66"/>
                </a:solidFill>
                <a:latin typeface="Calibri" panose="020F0502020204030204"/>
              </a:rPr>
              <a:t>12</a:t>
            </a:r>
            <a:endParaRPr sz="1000" b="0" i="0">
              <a:solidFill>
                <a:srgbClr val="5A5A66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4570</Words>
  <Application>WPS Presentation</Application>
  <PresentationFormat>On-screen Show (4:3)</PresentationFormat>
  <Paragraphs>184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Georgia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CoreX</cp:lastModifiedBy>
  <cp:revision>3</cp:revision>
  <dcterms:created xsi:type="dcterms:W3CDTF">2013-01-27T09:14:00Z</dcterms:created>
  <dcterms:modified xsi:type="dcterms:W3CDTF">2026-08-23T08:22:38Z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11F05D8C94894A329D99E0E20DE68033_12</vt:lpwstr>
  </property>
  <property fmtid="{D5CDD505-2E9C-101B-9397-08002B2CF9AE}" pid="3" name="KSOProductBuildVer">
    <vt:lpwstr>2057-12.2.0.23206</vt:lpwstr>
  </property>
</Properties>
</file>